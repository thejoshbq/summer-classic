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F9524B-5616-4020-9DA1-4843D73FFE6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695200-FBD7-4FFB-B171-03DD840C68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21A15A-4C5C-4861-84C6-C359F7A7B5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1B3B1B-9BC8-4744-A791-A80C0AD0CE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36B020-234D-443D-8E6A-D7CCC088D31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49722B-A3D4-49A2-9ED0-32F906EF7F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513730-6433-4B13-980B-3F327239F5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157248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1572840"/>
            <a:ext cx="9143640" cy="50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38840" y="118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98" strike="noStrike">
                <a:solidFill>
                  <a:srgbClr val="f28f16"/>
                </a:solidFill>
                <a:latin typeface="Trebuchet MS"/>
                <a:ea typeface="Trebuchet MS"/>
              </a:rPr>
              <a:t>DAY  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20480" y="329040"/>
            <a:ext cx="8320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Georgia"/>
                <a:ea typeface="Georgia"/>
              </a:rPr>
              <a:t>Spring Training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438840" y="113400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a8c4d0"/>
                </a:solidFill>
                <a:latin typeface="Trebuchet MS"/>
                <a:ea typeface="Trebuchet MS"/>
              </a:rPr>
              <a:t>Free agent night — no teams, no standings. Every throw tonight sets your scouting baseline.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402480" y="1792080"/>
            <a:ext cx="2706120" cy="263304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402480" y="1792080"/>
            <a:ext cx="45360" cy="2633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530280" y="1911240"/>
            <a:ext cx="2505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THE FASTBALL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530280" y="2176200"/>
            <a:ext cx="245016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530280" y="2249280"/>
            <a:ext cx="2505240" cy="20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Standard distance, dominant hand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5 scored throws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No modifications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The cleanest read on baseline ability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3273480" y="1792080"/>
            <a:ext cx="2706120" cy="263304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3273480" y="1792080"/>
            <a:ext cx="45360" cy="2633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3401640" y="1911240"/>
            <a:ext cx="2505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THE CHANGEUP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3401640" y="2176200"/>
            <a:ext cx="245016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3401640" y="2249280"/>
            <a:ext cx="2505240" cy="20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Non-dominant hand only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5 scored throws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Consistency data and a documented floor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Low scores expected — that's the point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144840" y="1792080"/>
            <a:ext cx="2706120" cy="263304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144840" y="1792080"/>
            <a:ext cx="45360" cy="2633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6272640" y="1911240"/>
            <a:ext cx="2505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THE TRICK SHOT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6272640" y="2176200"/>
            <a:ext cx="245016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6272640" y="2249280"/>
            <a:ext cx="2505240" cy="20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Season's designated variation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Coached demo first, then practice reps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5 scored throws — first scored attempt of the season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0" y="4736520"/>
            <a:ext cx="9143640" cy="40644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0"/>
          <p:cNvSpPr/>
          <p:nvPr/>
        </p:nvSpPr>
        <p:spPr>
          <a:xfrm>
            <a:off x="0" y="0"/>
            <a:ext cx="9143640" cy="157248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"/>
          <p:cNvSpPr/>
          <p:nvPr/>
        </p:nvSpPr>
        <p:spPr>
          <a:xfrm>
            <a:off x="0" y="1572840"/>
            <a:ext cx="9143640" cy="50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438840" y="118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98" strike="noStrike">
                <a:solidFill>
                  <a:srgbClr val="f28f16"/>
                </a:solidFill>
                <a:latin typeface="Trebuchet MS"/>
                <a:ea typeface="Trebuchet MS"/>
              </a:rPr>
              <a:t>DAY  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420480" y="329040"/>
            <a:ext cx="8320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Georgia"/>
                <a:ea typeface="Georgia"/>
              </a:rPr>
              <a:t>Opening Day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438840" y="113400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a8c4d0"/>
                </a:solidFill>
                <a:latin typeface="Trebuchet MS"/>
                <a:ea typeface="Trebuchet MS"/>
              </a:rPr>
              <a:t>Team reveals, the Franchise Announcement ceremony, and the first competitive game. Standings go live tonight.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5"/>
          <p:cNvSpPr/>
          <p:nvPr/>
        </p:nvSpPr>
        <p:spPr>
          <a:xfrm>
            <a:off x="402480" y="1783080"/>
            <a:ext cx="4160160" cy="138960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2480" y="1783080"/>
            <a:ext cx="45360" cy="138960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530280" y="1901880"/>
            <a:ext cx="39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FRANCHISE ANNOUNCEMENT CEREMONY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8"/>
          <p:cNvSpPr/>
          <p:nvPr/>
        </p:nvSpPr>
        <p:spPr>
          <a:xfrm>
            <a:off x="530280" y="2167200"/>
            <a:ext cx="39042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530280" y="2240280"/>
            <a:ext cx="3958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Teams assigned by coaches from Day 1 Scout Reports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Each team huddles — picks a name and a captain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Commissioner formally announces every franchise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Captains receive their team's Scout Reports for the season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0"/>
          <p:cNvSpPr/>
          <p:nvPr/>
        </p:nvSpPr>
        <p:spPr>
          <a:xfrm>
            <a:off x="4727520" y="1783080"/>
            <a:ext cx="4041360" cy="138960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11"/>
          <p:cNvSpPr/>
          <p:nvPr/>
        </p:nvSpPr>
        <p:spPr>
          <a:xfrm>
            <a:off x="4727520" y="1783080"/>
            <a:ext cx="45360" cy="138960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4855320" y="1901880"/>
            <a:ext cx="3840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WHAT GOES LIVE TONIGHT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3"/>
          <p:cNvSpPr/>
          <p:nvPr/>
        </p:nvSpPr>
        <p:spPr>
          <a:xfrm>
            <a:off x="4855320" y="2167200"/>
            <a:ext cx="37854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4"/>
          <p:cNvSpPr/>
          <p:nvPr/>
        </p:nvSpPr>
        <p:spPr>
          <a:xfrm>
            <a:off x="4855320" y="2240280"/>
            <a:ext cx="38401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Locked batting order AND pitching rotation — both submitted before first pitch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Changeup Pitch rule active from the first throw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Score sheet collection begins — all stat tracking starts here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5"/>
          <p:cNvSpPr/>
          <p:nvPr/>
        </p:nvSpPr>
        <p:spPr>
          <a:xfrm>
            <a:off x="402480" y="3264480"/>
            <a:ext cx="2541600" cy="147168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402480" y="3264480"/>
            <a:ext cx="45360" cy="147168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530280" y="3383280"/>
            <a:ext cx="2340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CAPTAIN DUTIES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18"/>
          <p:cNvSpPr/>
          <p:nvPr/>
        </p:nvSpPr>
        <p:spPr>
          <a:xfrm>
            <a:off x="530280" y="3648600"/>
            <a:ext cx="228564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9"/>
          <p:cNvSpPr/>
          <p:nvPr/>
        </p:nvSpPr>
        <p:spPr>
          <a:xfrm>
            <a:off x="530280" y="3721680"/>
            <a:ext cx="234036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Submit locked lineup to coach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Score own team's throws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Opposing captain verifies each score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Sign and submit sheet at 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20"/>
          <p:cNvSpPr/>
          <p:nvPr/>
        </p:nvSpPr>
        <p:spPr>
          <a:xfrm>
            <a:off x="3035880" y="3264480"/>
            <a:ext cx="2815920" cy="147168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21"/>
          <p:cNvSpPr/>
          <p:nvPr/>
        </p:nvSpPr>
        <p:spPr>
          <a:xfrm>
            <a:off x="3035880" y="3264480"/>
            <a:ext cx="45360" cy="147168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22"/>
          <p:cNvSpPr/>
          <p:nvPr/>
        </p:nvSpPr>
        <p:spPr>
          <a:xfrm>
            <a:off x="3163680" y="3383280"/>
            <a:ext cx="2614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CHANGEUP PITCH RULE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23"/>
          <p:cNvSpPr/>
          <p:nvPr/>
        </p:nvSpPr>
        <p:spPr>
          <a:xfrm>
            <a:off x="3163680" y="3648600"/>
            <a:ext cx="255996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4"/>
          <p:cNvSpPr/>
          <p:nvPr/>
        </p:nvSpPr>
        <p:spPr>
          <a:xfrm>
            <a:off x="3163680" y="3721680"/>
            <a:ext cx="2614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Pitcher throws non-dominant at their discretion — no advance call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Declare "Changeup" after axe lands, before batter throws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Score × season multiplier.  Non-stick = still a ball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5"/>
          <p:cNvSpPr/>
          <p:nvPr/>
        </p:nvSpPr>
        <p:spPr>
          <a:xfrm>
            <a:off x="5943600" y="3264480"/>
            <a:ext cx="2825280" cy="147168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26"/>
          <p:cNvSpPr/>
          <p:nvPr/>
        </p:nvSpPr>
        <p:spPr>
          <a:xfrm>
            <a:off x="5943600" y="3264480"/>
            <a:ext cx="45360" cy="147168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7"/>
          <p:cNvSpPr/>
          <p:nvPr/>
        </p:nvSpPr>
        <p:spPr>
          <a:xfrm>
            <a:off x="6071760" y="3383280"/>
            <a:ext cx="262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END OF NIGHT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8"/>
          <p:cNvSpPr/>
          <p:nvPr/>
        </p:nvSpPr>
        <p:spPr>
          <a:xfrm>
            <a:off x="6071760" y="3648600"/>
            <a:ext cx="256896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29"/>
          <p:cNvSpPr/>
          <p:nvPr/>
        </p:nvSpPr>
        <p:spPr>
          <a:xfrm>
            <a:off x="6071760" y="3721680"/>
            <a:ext cx="26240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Standings posted after the game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Jersey order finalized — sizes from Day 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Day 3 previewed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0" y="0"/>
            <a:ext cx="9143640" cy="157248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0" y="1572840"/>
            <a:ext cx="9143640" cy="50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2"/>
          <p:cNvSpPr/>
          <p:nvPr/>
        </p:nvSpPr>
        <p:spPr>
          <a:xfrm>
            <a:off x="438840" y="118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98" strike="noStrike">
                <a:solidFill>
                  <a:srgbClr val="f28f16"/>
                </a:solidFill>
                <a:latin typeface="Trebuchet MS"/>
                <a:ea typeface="Trebuchet MS"/>
              </a:rPr>
              <a:t>DAY  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3"/>
          <p:cNvSpPr/>
          <p:nvPr/>
        </p:nvSpPr>
        <p:spPr>
          <a:xfrm>
            <a:off x="420480" y="329040"/>
            <a:ext cx="8320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Georgia"/>
                <a:ea typeface="Georgia"/>
              </a:rPr>
              <a:t>The Bullpen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4"/>
          <p:cNvSpPr/>
          <p:nvPr/>
        </p:nvSpPr>
        <p:spPr>
          <a:xfrm>
            <a:off x="438840" y="113400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a8c4d0"/>
                </a:solidFill>
                <a:latin typeface="Trebuchet MS"/>
                <a:ea typeface="Trebuchet MS"/>
              </a:rPr>
              <a:t>Standard league night. Jerseys distributed. The in-game pitching change call goes live.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402480" y="1783080"/>
            <a:ext cx="4160160" cy="1425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6"/>
          <p:cNvSpPr/>
          <p:nvPr/>
        </p:nvSpPr>
        <p:spPr>
          <a:xfrm>
            <a:off x="402480" y="1783080"/>
            <a:ext cx="45360" cy="1425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7"/>
          <p:cNvSpPr/>
          <p:nvPr/>
        </p:nvSpPr>
        <p:spPr>
          <a:xfrm>
            <a:off x="530280" y="1901880"/>
            <a:ext cx="39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JERSEY DISTRIBUTION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530280" y="2167200"/>
            <a:ext cx="39042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9"/>
          <p:cNvSpPr/>
          <p:nvPr/>
        </p:nvSpPr>
        <p:spPr>
          <a:xfrm>
            <a:off x="530280" y="2240280"/>
            <a:ext cx="395892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Jerseys handed out at check-in if delivered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Confirm receipt before lanes open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Jersey order was placed end of Day 2 — verify lead time pre-season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4727520" y="1783080"/>
            <a:ext cx="4041360" cy="1425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4727520" y="1783080"/>
            <a:ext cx="45360" cy="1425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2"/>
          <p:cNvSpPr/>
          <p:nvPr/>
        </p:nvSpPr>
        <p:spPr>
          <a:xfrm>
            <a:off x="4855320" y="1901880"/>
            <a:ext cx="3840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PITCHING CHANGE CALL — NEW TONIGHT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4855320" y="2167200"/>
            <a:ext cx="37854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855320" y="2240280"/>
            <a:ext cx="384012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One per team per game starting tonight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Captain calls it — coach enforces it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Replacement takes the original pitcher's slot in the rotation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Checkbox tracked on the score sheet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5"/>
          <p:cNvSpPr/>
          <p:nvPr/>
        </p:nvSpPr>
        <p:spPr>
          <a:xfrm>
            <a:off x="402480" y="3310200"/>
            <a:ext cx="8366400" cy="1425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402480" y="3310200"/>
            <a:ext cx="45360" cy="1425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7"/>
          <p:cNvSpPr/>
          <p:nvPr/>
        </p:nvSpPr>
        <p:spPr>
          <a:xfrm>
            <a:off x="530280" y="3429000"/>
            <a:ext cx="8165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LOCKED LINEUPS (SAME AS DAY 2)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530280" y="3694320"/>
            <a:ext cx="811044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530280" y="3767400"/>
            <a:ext cx="816516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Each captain submits a locked batting order AND locked pitching rotation before first pitch — both required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Rotation display must be visible to the room so spectators can read strategy and coaches can enforce order at a glance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Order cycles across innings — team picks up from where it left off in the previous half-inning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0" y="4736520"/>
            <a:ext cx="9143640" cy="40644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420480" y="4736520"/>
            <a:ext cx="832068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ffffff"/>
                </a:solidFill>
                <a:latin typeface="Trebuchet MS"/>
                <a:ea typeface="Trebuchet MS"/>
              </a:rPr>
              <a:t>Score sheets collected at end of game every night from Day 2 forward. Changeup data and secondary stat captured every at-bat.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640" cy="157248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"/>
          <p:cNvSpPr/>
          <p:nvPr/>
        </p:nvSpPr>
        <p:spPr>
          <a:xfrm>
            <a:off x="0" y="1572840"/>
            <a:ext cx="9143640" cy="50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438840" y="118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98" strike="noStrike">
                <a:solidFill>
                  <a:srgbClr val="f28f16"/>
                </a:solidFill>
                <a:latin typeface="Trebuchet MS"/>
                <a:ea typeface="Trebuchet MS"/>
              </a:rPr>
              <a:t>DAY  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420480" y="329040"/>
            <a:ext cx="8320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Georgia"/>
                <a:ea typeface="Georgia"/>
              </a:rPr>
              <a:t>Murderball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438840" y="113400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a8c4d0"/>
                </a:solidFill>
                <a:latin typeface="Trebuchet MS"/>
                <a:ea typeface="Trebuchet MS"/>
              </a:rPr>
              <a:t>Individual bracketed heat elimination. No teams in play — but survival depth feeds season standings.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5"/>
          <p:cNvSpPr/>
          <p:nvPr/>
        </p:nvSpPr>
        <p:spPr>
          <a:xfrm>
            <a:off x="402480" y="1783080"/>
            <a:ext cx="2998800" cy="294408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402480" y="1783080"/>
            <a:ext cx="45360" cy="294408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530280" y="1901880"/>
            <a:ext cx="2797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FORMAT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8"/>
          <p:cNvSpPr/>
          <p:nvPr/>
        </p:nvSpPr>
        <p:spPr>
          <a:xfrm>
            <a:off x="530280" y="2167200"/>
            <a:ext cx="274284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530280" y="2240280"/>
            <a:ext cx="2797560" cy="23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Heat size equals lane count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Lowest score per heat is eliminated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Ties re-throw immediately at the lane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Heats consolidate each round until one champion remains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Bye = lowest Day 1 composite — announced by name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10"/>
          <p:cNvSpPr/>
          <p:nvPr/>
        </p:nvSpPr>
        <p:spPr>
          <a:xfrm>
            <a:off x="3547800" y="1783080"/>
            <a:ext cx="2358720" cy="294408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11"/>
          <p:cNvSpPr/>
          <p:nvPr/>
        </p:nvSpPr>
        <p:spPr>
          <a:xfrm>
            <a:off x="3547800" y="1783080"/>
            <a:ext cx="45360" cy="294408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2"/>
          <p:cNvSpPr/>
          <p:nvPr/>
        </p:nvSpPr>
        <p:spPr>
          <a:xfrm>
            <a:off x="3675960" y="1901880"/>
            <a:ext cx="2175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TEAM POINTS BY SURVIVAL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3"/>
          <p:cNvSpPr/>
          <p:nvPr/>
        </p:nvSpPr>
        <p:spPr>
          <a:xfrm>
            <a:off x="3675960" y="2167200"/>
            <a:ext cx="204804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3694320" y="2258640"/>
            <a:ext cx="146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Eliminated — Round 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5285160" y="2258640"/>
            <a:ext cx="529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7080"/>
                </a:solidFill>
                <a:latin typeface="Trebuchet MS"/>
                <a:ea typeface="Trebuchet MS"/>
              </a:rPr>
              <a:t>1 pt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6"/>
          <p:cNvSpPr/>
          <p:nvPr/>
        </p:nvSpPr>
        <p:spPr>
          <a:xfrm>
            <a:off x="3694320" y="2715840"/>
            <a:ext cx="146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Eliminated — Round 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7"/>
          <p:cNvSpPr/>
          <p:nvPr/>
        </p:nvSpPr>
        <p:spPr>
          <a:xfrm>
            <a:off x="5285160" y="2715840"/>
            <a:ext cx="529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7080"/>
                </a:solidFill>
                <a:latin typeface="Trebuchet MS"/>
                <a:ea typeface="Trebuchet MS"/>
              </a:rPr>
              <a:t>2 pts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8"/>
          <p:cNvSpPr/>
          <p:nvPr/>
        </p:nvSpPr>
        <p:spPr>
          <a:xfrm>
            <a:off x="3694320" y="3173040"/>
            <a:ext cx="146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Eliminated — Round 3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9"/>
          <p:cNvSpPr/>
          <p:nvPr/>
        </p:nvSpPr>
        <p:spPr>
          <a:xfrm>
            <a:off x="5285160" y="3173040"/>
            <a:ext cx="529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7080"/>
                </a:solidFill>
                <a:latin typeface="Trebuchet MS"/>
                <a:ea typeface="Trebuchet MS"/>
              </a:rPr>
              <a:t>3 pts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3694320" y="3630240"/>
            <a:ext cx="146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Finalist (runner-up)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1"/>
          <p:cNvSpPr/>
          <p:nvPr/>
        </p:nvSpPr>
        <p:spPr>
          <a:xfrm>
            <a:off x="5285160" y="3630240"/>
            <a:ext cx="529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7080"/>
                </a:solidFill>
                <a:latin typeface="Trebuchet MS"/>
                <a:ea typeface="Trebuchet MS"/>
              </a:rPr>
              <a:t>4 pts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22"/>
          <p:cNvSpPr/>
          <p:nvPr/>
        </p:nvSpPr>
        <p:spPr>
          <a:xfrm>
            <a:off x="3611880" y="4050720"/>
            <a:ext cx="2230920" cy="42012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23"/>
          <p:cNvSpPr/>
          <p:nvPr/>
        </p:nvSpPr>
        <p:spPr>
          <a:xfrm>
            <a:off x="3694320" y="4087440"/>
            <a:ext cx="146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Trebuchet MS"/>
                <a:ea typeface="Trebuchet MS"/>
              </a:rPr>
              <a:t>Champion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24"/>
          <p:cNvSpPr/>
          <p:nvPr/>
        </p:nvSpPr>
        <p:spPr>
          <a:xfrm>
            <a:off x="5285160" y="4087440"/>
            <a:ext cx="529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28f16"/>
                </a:solidFill>
                <a:latin typeface="Trebuchet MS"/>
                <a:ea typeface="Trebuchet MS"/>
              </a:rPr>
              <a:t>6 pts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25"/>
          <p:cNvSpPr/>
          <p:nvPr/>
        </p:nvSpPr>
        <p:spPr>
          <a:xfrm>
            <a:off x="6053400" y="1783080"/>
            <a:ext cx="2715480" cy="294408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26"/>
          <p:cNvSpPr/>
          <p:nvPr/>
        </p:nvSpPr>
        <p:spPr>
          <a:xfrm>
            <a:off x="6053400" y="1783080"/>
            <a:ext cx="45360" cy="294408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7"/>
          <p:cNvSpPr/>
          <p:nvPr/>
        </p:nvSpPr>
        <p:spPr>
          <a:xfrm>
            <a:off x="6181200" y="190188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COMMISSIONER'S ROLE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28"/>
          <p:cNvSpPr/>
          <p:nvPr/>
        </p:nvSpPr>
        <p:spPr>
          <a:xfrm>
            <a:off x="6181200" y="2167200"/>
            <a:ext cx="245952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9"/>
          <p:cNvSpPr/>
          <p:nvPr/>
        </p:nvSpPr>
        <p:spPr>
          <a:xfrm>
            <a:off x="6181200" y="2240280"/>
            <a:ext cx="2514240" cy="23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Call every elimination by name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Slow the pace deliberately as the field narrows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The ceremony IS the format — showmanship is by design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Champion: chalkboard recognition + a drink on the Commissioners' tab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30"/>
          <p:cNvSpPr/>
          <p:nvPr/>
        </p:nvSpPr>
        <p:spPr>
          <a:xfrm>
            <a:off x="0" y="4736520"/>
            <a:ext cx="9143640" cy="406440"/>
          </a:xfrm>
          <a:prstGeom prst="rect">
            <a:avLst/>
          </a:prstGeom>
          <a:solidFill>
            <a:srgbClr val="f25c05"/>
          </a:solidFill>
          <a:ln w="12700">
            <a:solidFill>
              <a:srgbClr val="f25c0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31"/>
          <p:cNvSpPr/>
          <p:nvPr/>
        </p:nvSpPr>
        <p:spPr>
          <a:xfrm>
            <a:off x="420480" y="4736520"/>
            <a:ext cx="832068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Trebuchet MS"/>
                <a:ea typeface="Trebuchet MS"/>
              </a:rPr>
              <a:t>Changeup Pitch does not apply tonight.  Score sheet collection pauses — Murderball uses its own heat sheets.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0" y="0"/>
            <a:ext cx="9143640" cy="157248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Shape 1"/>
          <p:cNvSpPr/>
          <p:nvPr/>
        </p:nvSpPr>
        <p:spPr>
          <a:xfrm>
            <a:off x="0" y="1572840"/>
            <a:ext cx="9143640" cy="50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438840" y="118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98" strike="noStrike">
                <a:solidFill>
                  <a:srgbClr val="f28f16"/>
                </a:solidFill>
                <a:latin typeface="Trebuchet MS"/>
                <a:ea typeface="Trebuchet MS"/>
              </a:rPr>
              <a:t>DAY  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20480" y="329040"/>
            <a:ext cx="8320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Georgia"/>
                <a:ea typeface="Georgia"/>
              </a:rPr>
              <a:t>Playoffs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438840" y="113400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a8c4d0"/>
                </a:solidFill>
                <a:latin typeface="Trebuchet MS"/>
                <a:ea typeface="Trebuchet MS"/>
              </a:rPr>
              <a:t>Regular season over. Bracket posted at doors. Winners advance to Day 6. Coaches run the full season stat tally tonight.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5"/>
          <p:cNvSpPr/>
          <p:nvPr/>
        </p:nvSpPr>
        <p:spPr>
          <a:xfrm>
            <a:off x="402480" y="1783080"/>
            <a:ext cx="2688120" cy="144432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402480" y="1783080"/>
            <a:ext cx="45360" cy="144432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530280" y="1901880"/>
            <a:ext cx="2486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SEEDING CRITERIA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8"/>
          <p:cNvSpPr/>
          <p:nvPr/>
        </p:nvSpPr>
        <p:spPr>
          <a:xfrm>
            <a:off x="530280" y="2167200"/>
            <a:ext cx="24318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530280" y="2240280"/>
            <a:ext cx="248688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Regular-season W-L (Days 2 &amp; 3) + Murderball team points (Day 4)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Tiebreaker 1: head-to-head record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Tiebreaker 2: run differential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10"/>
          <p:cNvSpPr/>
          <p:nvPr/>
        </p:nvSpPr>
        <p:spPr>
          <a:xfrm>
            <a:off x="3191400" y="1783080"/>
            <a:ext cx="2688120" cy="144432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1"/>
          <p:cNvSpPr/>
          <p:nvPr/>
        </p:nvSpPr>
        <p:spPr>
          <a:xfrm>
            <a:off x="3191400" y="1783080"/>
            <a:ext cx="45360" cy="144432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3319200" y="1901880"/>
            <a:ext cx="2486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STAT TALLY — COACHES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3"/>
          <p:cNvSpPr/>
          <p:nvPr/>
        </p:nvSpPr>
        <p:spPr>
          <a:xfrm>
            <a:off x="3319200" y="2167200"/>
            <a:ext cx="24318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3319200" y="2240280"/>
            <a:ext cx="248688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Runs in parallel with playoff games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Pulls Changeup totals + secondary stat totals from all filed score sheets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Must finish before Day 6 doors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15"/>
          <p:cNvSpPr/>
          <p:nvPr/>
        </p:nvSpPr>
        <p:spPr>
          <a:xfrm>
            <a:off x="5961960" y="1783080"/>
            <a:ext cx="2806920" cy="144432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6"/>
          <p:cNvSpPr/>
          <p:nvPr/>
        </p:nvSpPr>
        <p:spPr>
          <a:xfrm>
            <a:off x="5961960" y="1783080"/>
            <a:ext cx="45360" cy="144432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17"/>
          <p:cNvSpPr/>
          <p:nvPr/>
        </p:nvSpPr>
        <p:spPr>
          <a:xfrm>
            <a:off x="6089760" y="1901880"/>
            <a:ext cx="2605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HOME RUN DERBY SEEDING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8"/>
          <p:cNvSpPr/>
          <p:nvPr/>
        </p:nvSpPr>
        <p:spPr>
          <a:xfrm>
            <a:off x="6089760" y="2167200"/>
            <a:ext cx="255096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9"/>
          <p:cNvSpPr/>
          <p:nvPr/>
        </p:nvSpPr>
        <p:spPr>
          <a:xfrm>
            <a:off x="6089760" y="2240280"/>
            <a:ext cx="260568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Playoff losers only — opt in at Day 6 check-in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Seeded by Day 5 runs scored + RBIs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Bracket posted at Day 6 doors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0"/>
          <p:cNvSpPr/>
          <p:nvPr/>
        </p:nvSpPr>
        <p:spPr>
          <a:xfrm>
            <a:off x="402480" y="3337560"/>
            <a:ext cx="2688120" cy="1407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21"/>
          <p:cNvSpPr/>
          <p:nvPr/>
        </p:nvSpPr>
        <p:spPr>
          <a:xfrm>
            <a:off x="402480" y="3337560"/>
            <a:ext cx="45360" cy="1407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22"/>
          <p:cNvSpPr/>
          <p:nvPr/>
        </p:nvSpPr>
        <p:spPr>
          <a:xfrm>
            <a:off x="530280" y="3456360"/>
            <a:ext cx="2486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4 TEAMS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23"/>
          <p:cNvSpPr/>
          <p:nvPr/>
        </p:nvSpPr>
        <p:spPr>
          <a:xfrm>
            <a:off x="530280" y="3721680"/>
            <a:ext cx="24318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24"/>
          <p:cNvSpPr/>
          <p:nvPr/>
        </p:nvSpPr>
        <p:spPr>
          <a:xfrm>
            <a:off x="530280" y="3794760"/>
            <a:ext cx="24868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Two simultaneous semifinals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Winners → Day 6 Championship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Losers' Day 5 performance seeds Derby bracket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25"/>
          <p:cNvSpPr/>
          <p:nvPr/>
        </p:nvSpPr>
        <p:spPr>
          <a:xfrm>
            <a:off x="3232440" y="3337560"/>
            <a:ext cx="2688120" cy="1407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6"/>
          <p:cNvSpPr/>
          <p:nvPr/>
        </p:nvSpPr>
        <p:spPr>
          <a:xfrm>
            <a:off x="3232440" y="3337560"/>
            <a:ext cx="45360" cy="1407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27"/>
          <p:cNvSpPr/>
          <p:nvPr/>
        </p:nvSpPr>
        <p:spPr>
          <a:xfrm>
            <a:off x="3360600" y="3456360"/>
            <a:ext cx="2486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5 TEAMS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8"/>
          <p:cNvSpPr/>
          <p:nvPr/>
        </p:nvSpPr>
        <p:spPr>
          <a:xfrm>
            <a:off x="3360600" y="3721680"/>
            <a:ext cx="24318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29"/>
          <p:cNvSpPr/>
          <p:nvPr/>
        </p:nvSpPr>
        <p:spPr>
          <a:xfrm>
            <a:off x="3360600" y="3794760"/>
            <a:ext cx="24868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4-seed vs. 5-seed play-in first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Then two semifinals among remaining four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Winners → Championship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30"/>
          <p:cNvSpPr/>
          <p:nvPr/>
        </p:nvSpPr>
        <p:spPr>
          <a:xfrm>
            <a:off x="6062400" y="3337560"/>
            <a:ext cx="2688120" cy="1407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31"/>
          <p:cNvSpPr/>
          <p:nvPr/>
        </p:nvSpPr>
        <p:spPr>
          <a:xfrm>
            <a:off x="6062400" y="3337560"/>
            <a:ext cx="45360" cy="1407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32"/>
          <p:cNvSpPr/>
          <p:nvPr/>
        </p:nvSpPr>
        <p:spPr>
          <a:xfrm>
            <a:off x="6190560" y="3456360"/>
            <a:ext cx="2486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6 TEAMS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33"/>
          <p:cNvSpPr/>
          <p:nvPr/>
        </p:nvSpPr>
        <p:spPr>
          <a:xfrm>
            <a:off x="6190560" y="3721680"/>
            <a:ext cx="24318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34"/>
          <p:cNvSpPr/>
          <p:nvPr/>
        </p:nvSpPr>
        <p:spPr>
          <a:xfrm>
            <a:off x="6190560" y="3794760"/>
            <a:ext cx="24868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Top 2 seeds receive byes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Seeds 3–6 play first-round games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Winners face top 2 seeds in semifinals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0"/>
          <p:cNvSpPr/>
          <p:nvPr/>
        </p:nvSpPr>
        <p:spPr>
          <a:xfrm>
            <a:off x="0" y="0"/>
            <a:ext cx="9143640" cy="157248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"/>
          <p:cNvSpPr/>
          <p:nvPr/>
        </p:nvSpPr>
        <p:spPr>
          <a:xfrm>
            <a:off x="0" y="1572840"/>
            <a:ext cx="9143640" cy="5004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2"/>
          <p:cNvSpPr/>
          <p:nvPr/>
        </p:nvSpPr>
        <p:spPr>
          <a:xfrm>
            <a:off x="438840" y="11880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98" strike="noStrike">
                <a:solidFill>
                  <a:srgbClr val="f28f16"/>
                </a:solidFill>
                <a:latin typeface="Trebuchet MS"/>
                <a:ea typeface="Trebuchet MS"/>
              </a:rPr>
              <a:t>DAY  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3"/>
          <p:cNvSpPr/>
          <p:nvPr/>
        </p:nvSpPr>
        <p:spPr>
          <a:xfrm>
            <a:off x="420480" y="329040"/>
            <a:ext cx="8320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Georgia"/>
                <a:ea typeface="Georgia"/>
              </a:rPr>
              <a:t>The World Series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438840" y="1134000"/>
            <a:ext cx="8320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a8c4d0"/>
                </a:solidFill>
                <a:latin typeface="Trebuchet MS"/>
                <a:ea typeface="Trebuchet MS"/>
              </a:rPr>
              <a:t>The payoff. Home Run Derby runs first, then Championship Game, then the full awards ceremony.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5"/>
          <p:cNvSpPr/>
          <p:nvPr/>
        </p:nvSpPr>
        <p:spPr>
          <a:xfrm>
            <a:off x="402480" y="1783080"/>
            <a:ext cx="4160160" cy="1425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6"/>
          <p:cNvSpPr/>
          <p:nvPr/>
        </p:nvSpPr>
        <p:spPr>
          <a:xfrm>
            <a:off x="402480" y="1783080"/>
            <a:ext cx="45360" cy="1425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7"/>
          <p:cNvSpPr/>
          <p:nvPr/>
        </p:nvSpPr>
        <p:spPr>
          <a:xfrm>
            <a:off x="530280" y="1901880"/>
            <a:ext cx="39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HOME RUN DERBY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8"/>
          <p:cNvSpPr/>
          <p:nvPr/>
        </p:nvSpPr>
        <p:spPr>
          <a:xfrm>
            <a:off x="530280" y="2167200"/>
            <a:ext cx="39042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9"/>
          <p:cNvSpPr/>
          <p:nvPr/>
        </p:nvSpPr>
        <p:spPr>
          <a:xfrm>
            <a:off x="530280" y="2240280"/>
            <a:ext cx="395892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Killshot-only — every throw is a declared killshot or zero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5 throws each per matchup; 7 in the championship final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Ties → sudden death (one throw each, alternating)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Champion receives the engraved throwing hatchet — formal presentation + photo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0"/>
          <p:cNvSpPr/>
          <p:nvPr/>
        </p:nvSpPr>
        <p:spPr>
          <a:xfrm>
            <a:off x="4727520" y="1783080"/>
            <a:ext cx="4041360" cy="14259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1"/>
          <p:cNvSpPr/>
          <p:nvPr/>
        </p:nvSpPr>
        <p:spPr>
          <a:xfrm>
            <a:off x="4727520" y="1783080"/>
            <a:ext cx="45360" cy="14259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2"/>
          <p:cNvSpPr/>
          <p:nvPr/>
        </p:nvSpPr>
        <p:spPr>
          <a:xfrm>
            <a:off x="4855320" y="1901880"/>
            <a:ext cx="3840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CHAMPIONSHIP GAME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3"/>
          <p:cNvSpPr/>
          <p:nvPr/>
        </p:nvSpPr>
        <p:spPr>
          <a:xfrm>
            <a:off x="4855320" y="2167200"/>
            <a:ext cx="3785400" cy="162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8440" bIns="-284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4855320" y="2240280"/>
            <a:ext cx="384012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Full 9 innings — mercy rule suspended for tonight only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Changeup Pitch and locked lineups active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Captains score; opposing captains verify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127080" indent="-127080" defTabSz="914400">
              <a:lnSpc>
                <a:spcPct val="100000"/>
              </a:lnSpc>
              <a:spcAft>
                <a:spcPts val="400"/>
              </a:spcAft>
              <a:buClr>
                <a:srgbClr val="1a2b35"/>
              </a:buClr>
              <a:buFont typeface="Symbol" charset="2"/>
              <a:buChar char=""/>
            </a:pPr>
            <a:r>
              <a:rPr b="0" lang="en-US" sz="1050" spc="-1" strike="noStrike">
                <a:solidFill>
                  <a:srgbClr val="1a2b35"/>
                </a:solidFill>
                <a:latin typeface="Trebuchet MS"/>
                <a:ea typeface="Trebuchet MS"/>
              </a:rPr>
              <a:t>Innings count locked verbally with both captains before first pitch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402480" y="3319200"/>
            <a:ext cx="8366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99" strike="noStrike">
                <a:solidFill>
                  <a:srgbClr val="f28f16"/>
                </a:solidFill>
                <a:latin typeface="Trebuchet MS"/>
                <a:ea typeface="Trebuchet MS"/>
              </a:rPr>
              <a:t>AWARDS ORDER  —  BUILD TO THE BIGGER ONES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6"/>
          <p:cNvSpPr/>
          <p:nvPr/>
        </p:nvSpPr>
        <p:spPr>
          <a:xfrm>
            <a:off x="402480" y="3593520"/>
            <a:ext cx="8366400" cy="19800"/>
          </a:xfrm>
          <a:prstGeom prst="rect">
            <a:avLst/>
          </a:prstGeom>
          <a:solidFill>
            <a:srgbClr val="e8edef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17"/>
          <p:cNvSpPr/>
          <p:nvPr/>
        </p:nvSpPr>
        <p:spPr>
          <a:xfrm>
            <a:off x="402480" y="3630240"/>
            <a:ext cx="1572480" cy="10785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18"/>
          <p:cNvSpPr/>
          <p:nvPr/>
        </p:nvSpPr>
        <p:spPr>
          <a:xfrm>
            <a:off x="402480" y="3630240"/>
            <a:ext cx="1572480" cy="453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19"/>
          <p:cNvSpPr/>
          <p:nvPr/>
        </p:nvSpPr>
        <p:spPr>
          <a:xfrm>
            <a:off x="511920" y="3721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28f16"/>
                </a:solidFill>
                <a:latin typeface="Georgia"/>
                <a:ea typeface="Georg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20"/>
          <p:cNvSpPr/>
          <p:nvPr/>
        </p:nvSpPr>
        <p:spPr>
          <a:xfrm>
            <a:off x="511920" y="4014360"/>
            <a:ext cx="1389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35"/>
                </a:solidFill>
                <a:latin typeface="Trebuchet MS"/>
                <a:ea typeface="Trebuchet MS"/>
              </a:rPr>
              <a:t>Changeup Award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21"/>
          <p:cNvSpPr/>
          <p:nvPr/>
        </p:nvSpPr>
        <p:spPr>
          <a:xfrm>
            <a:off x="511920" y="4325040"/>
            <a:ext cx="1389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5a7080"/>
                </a:solidFill>
                <a:latin typeface="Trebuchet MS"/>
                <a:ea typeface="Trebuchet MS"/>
              </a:rPr>
              <a:t>Highest Changeup avg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5a7080"/>
                </a:solidFill>
                <a:latin typeface="Trebuchet MS"/>
                <a:ea typeface="Trebuchet MS"/>
              </a:rPr>
              <a:t>Min ~10 thrown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22"/>
          <p:cNvSpPr/>
          <p:nvPr/>
        </p:nvSpPr>
        <p:spPr>
          <a:xfrm>
            <a:off x="2080440" y="3630240"/>
            <a:ext cx="1572480" cy="10785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3"/>
          <p:cNvSpPr/>
          <p:nvPr/>
        </p:nvSpPr>
        <p:spPr>
          <a:xfrm>
            <a:off x="2080440" y="3630240"/>
            <a:ext cx="1572480" cy="453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24"/>
          <p:cNvSpPr/>
          <p:nvPr/>
        </p:nvSpPr>
        <p:spPr>
          <a:xfrm>
            <a:off x="2189880" y="3721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28f16"/>
                </a:solidFill>
                <a:latin typeface="Georgia"/>
                <a:ea typeface="Georg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25"/>
          <p:cNvSpPr/>
          <p:nvPr/>
        </p:nvSpPr>
        <p:spPr>
          <a:xfrm>
            <a:off x="2189880" y="4014360"/>
            <a:ext cx="1389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35"/>
                </a:solidFill>
                <a:latin typeface="Trebuchet MS"/>
                <a:ea typeface="Trebuchet MS"/>
              </a:rPr>
              <a:t>Most Clutch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26"/>
          <p:cNvSpPr/>
          <p:nvPr/>
        </p:nvSpPr>
        <p:spPr>
          <a:xfrm>
            <a:off x="2189880" y="4325040"/>
            <a:ext cx="1389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5a7080"/>
                </a:solidFill>
                <a:latin typeface="Trebuchet MS"/>
                <a:ea typeface="Trebuchet MS"/>
              </a:rPr>
              <a:t>Secondary stat tally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5a7080"/>
                </a:solidFill>
                <a:latin typeface="Trebuchet MS"/>
                <a:ea typeface="Trebuchet MS"/>
              </a:rPr>
              <a:t>Day 2 onward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27"/>
          <p:cNvSpPr/>
          <p:nvPr/>
        </p:nvSpPr>
        <p:spPr>
          <a:xfrm>
            <a:off x="3758040" y="3630240"/>
            <a:ext cx="1572480" cy="1078560"/>
          </a:xfrm>
          <a:prstGeom prst="rect">
            <a:avLst/>
          </a:prstGeom>
          <a:solidFill>
            <a:srgbClr val="f7f9fa"/>
          </a:solidFill>
          <a:ln w="12700">
            <a:solidFill>
              <a:srgbClr val="e8e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28"/>
          <p:cNvSpPr/>
          <p:nvPr/>
        </p:nvSpPr>
        <p:spPr>
          <a:xfrm>
            <a:off x="3758040" y="3630240"/>
            <a:ext cx="1572480" cy="453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29"/>
          <p:cNvSpPr/>
          <p:nvPr/>
        </p:nvSpPr>
        <p:spPr>
          <a:xfrm>
            <a:off x="3867840" y="3721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28f16"/>
                </a:solidFill>
                <a:latin typeface="Georgia"/>
                <a:ea typeface="Georg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30"/>
          <p:cNvSpPr/>
          <p:nvPr/>
        </p:nvSpPr>
        <p:spPr>
          <a:xfrm>
            <a:off x="3867840" y="4014360"/>
            <a:ext cx="1389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a2b35"/>
                </a:solidFill>
                <a:latin typeface="Trebuchet MS"/>
                <a:ea typeface="Trebuchet MS"/>
              </a:rPr>
              <a:t>MVP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31"/>
          <p:cNvSpPr/>
          <p:nvPr/>
        </p:nvSpPr>
        <p:spPr>
          <a:xfrm>
            <a:off x="3867840" y="4325040"/>
            <a:ext cx="1389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5a7080"/>
                </a:solidFill>
                <a:latin typeface="Trebuchet MS"/>
                <a:ea typeface="Trebuchet MS"/>
              </a:rPr>
              <a:t>Commissioner discretion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5a7080"/>
                </a:solidFill>
                <a:latin typeface="Trebuchet MS"/>
                <a:ea typeface="Trebuchet MS"/>
              </a:rPr>
              <a:t>Season stats inform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32"/>
          <p:cNvSpPr/>
          <p:nvPr/>
        </p:nvSpPr>
        <p:spPr>
          <a:xfrm>
            <a:off x="5436000" y="3630240"/>
            <a:ext cx="1572480" cy="107856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33"/>
          <p:cNvSpPr/>
          <p:nvPr/>
        </p:nvSpPr>
        <p:spPr>
          <a:xfrm>
            <a:off x="5436000" y="3630240"/>
            <a:ext cx="1572480" cy="453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34"/>
          <p:cNvSpPr/>
          <p:nvPr/>
        </p:nvSpPr>
        <p:spPr>
          <a:xfrm>
            <a:off x="5545800" y="3721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28f16"/>
                </a:solidFill>
                <a:latin typeface="Georgia"/>
                <a:ea typeface="Georg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35"/>
          <p:cNvSpPr/>
          <p:nvPr/>
        </p:nvSpPr>
        <p:spPr>
          <a:xfrm>
            <a:off x="5545800" y="4014360"/>
            <a:ext cx="1389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Trebuchet MS"/>
                <a:ea typeface="Trebuchet MS"/>
              </a:rPr>
              <a:t>Derby Champion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36"/>
          <p:cNvSpPr/>
          <p:nvPr/>
        </p:nvSpPr>
        <p:spPr>
          <a:xfrm>
            <a:off x="5545800" y="4325040"/>
            <a:ext cx="1389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a8c4d0"/>
                </a:solidFill>
                <a:latin typeface="Trebuchet MS"/>
                <a:ea typeface="Trebuchet MS"/>
              </a:rPr>
              <a:t>Engraved hatchet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a8c4d0"/>
                </a:solidFill>
                <a:latin typeface="Trebuchet MS"/>
                <a:ea typeface="Trebuchet MS"/>
              </a:rPr>
              <a:t>Full ceremony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37"/>
          <p:cNvSpPr/>
          <p:nvPr/>
        </p:nvSpPr>
        <p:spPr>
          <a:xfrm>
            <a:off x="7113960" y="3630240"/>
            <a:ext cx="1572480" cy="1078560"/>
          </a:xfrm>
          <a:prstGeom prst="rect">
            <a:avLst/>
          </a:prstGeom>
          <a:solidFill>
            <a:srgbClr val="114566"/>
          </a:solidFill>
          <a:ln w="12700">
            <a:solidFill>
              <a:srgbClr val="1145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38"/>
          <p:cNvSpPr/>
          <p:nvPr/>
        </p:nvSpPr>
        <p:spPr>
          <a:xfrm>
            <a:off x="7113960" y="3630240"/>
            <a:ext cx="1572480" cy="45360"/>
          </a:xfrm>
          <a:prstGeom prst="rect">
            <a:avLst/>
          </a:prstGeom>
          <a:solidFill>
            <a:srgbClr val="f28f16"/>
          </a:solidFill>
          <a:ln w="12700">
            <a:solidFill>
              <a:srgbClr val="f28f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39"/>
          <p:cNvSpPr/>
          <p:nvPr/>
        </p:nvSpPr>
        <p:spPr>
          <a:xfrm>
            <a:off x="7223760" y="3721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28f16"/>
                </a:solidFill>
                <a:latin typeface="Georgia"/>
                <a:ea typeface="Georg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40"/>
          <p:cNvSpPr/>
          <p:nvPr/>
        </p:nvSpPr>
        <p:spPr>
          <a:xfrm>
            <a:off x="7223760" y="4014360"/>
            <a:ext cx="1389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Trebuchet MS"/>
                <a:ea typeface="Trebuchet MS"/>
              </a:rPr>
              <a:t>Championship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41"/>
          <p:cNvSpPr/>
          <p:nvPr/>
        </p:nvSpPr>
        <p:spPr>
          <a:xfrm>
            <a:off x="7223760" y="4325040"/>
            <a:ext cx="1389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a8c4d0"/>
                </a:solidFill>
                <a:latin typeface="Trebuchet MS"/>
                <a:ea typeface="Trebuchet MS"/>
              </a:rPr>
              <a:t>Engraved pint glasses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a8c4d0"/>
                </a:solidFill>
                <a:latin typeface="Trebuchet MS"/>
                <a:ea typeface="Trebuchet MS"/>
              </a:rPr>
              <a:t>Team photo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2026-05-21T18:53:09Z</dcterms:created>
  <dc:creator>PptxGenJS</dc:creator>
  <dc:description/>
  <dc:language>en-US</dc:language>
  <cp:lastModifiedBy/>
  <dcterms:modified xsi:type="dcterms:W3CDTF">2026-07-08T16:45:50Z</dcterms:modified>
  <cp:revision>2</cp:revision>
  <dc:subject>PptxGenJS Presentation</dc:subject>
  <dc:title>The Summer Classic — League Night Overview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